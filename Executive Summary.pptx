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1"/>
  </p:notesMasterIdLst>
  <p:sldIdLst>
    <p:sldId id="256" r:id="rId3"/>
    <p:sldId id="257" r:id="rId4"/>
    <p:sldId id="259" r:id="rId5"/>
    <p:sldId id="262" r:id="rId6"/>
    <p:sldId id="263" r:id="rId7"/>
    <p:sldId id="261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008C-C116-4BEC-AA9D-C6756B9EE77D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154D7-88B6-4FFC-B9C2-EAD576DB9A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96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17033-E11F-85AD-1804-095640FBDF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CC8950-C2BC-45F8-2178-08C9CED5B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D8CB6-6B29-9F01-25BC-F326626DE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8C6542-E342-E71A-16CE-7A21CC4D2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BF904F-D50A-45F1-899A-63A4EC1A2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617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57B03-015E-42A6-5AAF-665D8020F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31519-353A-B763-AF46-0BE14FCF62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946B1-9D04-ACE1-22A4-93AAE19B1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35DBA-C2B9-DF89-EA58-0B647FB32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3D9D7-C695-528F-4E5D-14288F0EE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76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81C0F-5E68-F404-2404-ECFE51DDF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612F8E-8920-6F6E-ADE9-272B3B800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B21A2-0284-EBBA-16D5-C635AB171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C6CB1D-231B-7318-CF66-BA577EFDD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65004-E4FE-EC01-9604-CB68950C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10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164F1-7140-35FE-F27D-039A331AF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39918-C995-EFF7-8BC6-47A69A7990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AD4D38-33F5-4669-00FC-0DA9C9EE9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FE2403-1029-FA4C-7485-9BC73D72A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C9631C-AD71-9032-3E23-65C9824C3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8C07A-E2E1-F634-2678-2B2C3EBE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479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0723F-94EF-F8E2-4550-178306BE4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000453-C661-7A63-6DFE-E0A6665865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0EFD62-BAF5-6AD8-AF4A-2DEF588CE1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8028A7-4EB4-30D9-B366-89998A057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8D030-F6A5-D99E-995F-4B2DC3150F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806E25-2A50-F704-F052-9ED32B7D8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0CBC48-E140-E12C-01FC-DE7FCDDD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6A4C0E-57C3-75A1-032D-34D8D894A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64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25DF5-1920-40DA-1189-E9D824DE4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D499BE-2E88-4993-E651-D461A804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F7DE41-1C49-EE79-3CE4-54A54EA13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8626DD-8AD5-A0B2-78D9-22B968934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028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EA6222-5A3F-D9D5-2A41-E3700D819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8CDFA-31FB-1C25-F211-CD45DD984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1949B-8E41-30EC-D99D-65ED96A96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90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20BF3-4FA5-4254-D70D-2B5D33ABC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AC5C5-DC4A-BC6E-F53B-ED1C98241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B11AD3-00F8-5EA5-305F-24BC060882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B344E-C9E3-2D62-FDEA-9283BE896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09445-338E-AF5B-A4E1-461CE5EC2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77F20-6C6F-5850-3662-568D526A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08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130CF-DEE3-ED51-187A-C5C144228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7B597F-A4AE-EF2B-0BD5-30B8E8FBEB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F13F8-F99F-1A9E-3A76-3E8CF8D945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C63F5F-9F82-08A7-6FE8-6F35C1D14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251A52-55CD-9DB4-DC8F-2127FFD53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51C0A-1F77-466A-B369-C38005EFE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26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E80E6-1092-3F85-ADE8-B9CCA6B72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5D54EE-B524-FC64-65AF-B09BB053B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1B748C-8A43-22BB-9817-5D730A504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E138DB-2554-18F0-0D92-BFF69AFF4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1751D-44C5-6D3A-C594-3F257716D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603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7EEB7-2339-F8D0-0D23-E2B6F4D25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EBB8CB-C0D3-F875-177E-B14C16DA8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0293E-0031-307E-9FA0-DF5572E70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FF3FF-0D31-5DE8-A8FB-8E3034D1D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242C3-86CC-36ED-67F6-988F5110B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8561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A4A77-C0EC-E90C-087A-E71757299B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926541"/>
            <a:ext cx="10972800" cy="1663044"/>
          </a:xfrm>
          <a:prstGeom prst="rect">
            <a:avLst/>
          </a:prstGeo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AB453-76B0-1DBA-9EE3-645CA9804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735636"/>
            <a:ext cx="10972800" cy="474663"/>
          </a:xfrm>
        </p:spPr>
        <p:txBody>
          <a:bodyPr anchor="b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ru-R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729D4B-20DA-C5A9-370C-5C556DC7C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C23F1A-779F-4295-3160-E943DBC04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849934F-55C5-A548-E041-1CB8C42DF0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926541"/>
          </a:xfr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7411664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DBA23-25B7-954B-D646-B91AE0381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3537"/>
            <a:ext cx="10972800" cy="123048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21325FB-E0FE-AAA4-853C-618899B581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665" y="1610518"/>
            <a:ext cx="6970824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2B210CD-96D1-D9FB-6DF0-62266CCB6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664" y="2222065"/>
            <a:ext cx="6970825" cy="702959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7745948-92EA-3E8A-1DBC-45422E918504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580323" y="3143243"/>
            <a:ext cx="6139069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87155554-9334-F8D5-FA7F-80CF2FB3BC78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1580323" y="3754790"/>
            <a:ext cx="6139068" cy="702959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A44C718E-DBD5-B640-39D2-7860AFE27FFB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960666" y="4717060"/>
            <a:ext cx="6970823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B073C5F-2FFF-4B6A-E630-E112FB5B952B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960666" y="5328607"/>
            <a:ext cx="6970822" cy="702959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D9276F28-A527-C906-EE7C-5440E0C56B8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31490" y="2031153"/>
            <a:ext cx="3650910" cy="3650910"/>
          </a:xfrm>
          <a:prstGeom prst="ellipse">
            <a:avLst/>
          </a:prstGeo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30843267-C01A-455A-D8A3-E8A7C6CFB0F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1DAE6A71-9FA2-20A0-D992-DEBF7FF330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85D3E6-EA9D-9DE8-6317-6DF86AEEDB4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39138" y="6538913"/>
            <a:ext cx="3243262" cy="182562"/>
          </a:xfrm>
        </p:spPr>
        <p:txBody>
          <a:bodyPr>
            <a:noAutofit/>
          </a:bodyPr>
          <a:lstStyle>
            <a:lvl1pPr marL="0" indent="0" algn="r">
              <a:buNone/>
              <a:defRPr sz="100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48219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lumns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DBA23-25B7-954B-D646-B91AE0381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3537"/>
            <a:ext cx="10972800" cy="123048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791D4-7662-2DFB-077F-25FC6921C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723-B8F5-CDD2-6B9D-229B99F03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2C780-6C1C-A81B-5B9E-735DFD6F43D1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369902" y="2185522"/>
            <a:ext cx="3452196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29AB7CE-949B-41D7-A673-06B30968CD01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369902" y="2797069"/>
            <a:ext cx="3452194" cy="830639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C6C789A-7FB2-432A-6019-3F62E5386F29}"/>
              </a:ext>
            </a:extLst>
          </p:cNvPr>
          <p:cNvSpPr>
            <a:spLocks noGrp="1"/>
          </p:cNvSpPr>
          <p:nvPr>
            <p:ph type="body" idx="21"/>
          </p:nvPr>
        </p:nvSpPr>
        <p:spPr>
          <a:xfrm>
            <a:off x="7987745" y="2185522"/>
            <a:ext cx="3452196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672CBAF-4BDE-95E9-99A1-9EDDBDEF84DC}"/>
              </a:ext>
            </a:extLst>
          </p:cNvPr>
          <p:cNvSpPr>
            <a:spLocks noGrp="1"/>
          </p:cNvSpPr>
          <p:nvPr>
            <p:ph type="body" sz="half" idx="22"/>
          </p:nvPr>
        </p:nvSpPr>
        <p:spPr>
          <a:xfrm>
            <a:off x="7987745" y="2797069"/>
            <a:ext cx="3452194" cy="830639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F48CE7A-5E89-3480-B862-44BFAC429981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761997" y="2185521"/>
            <a:ext cx="3452196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8CF0CF5-EF6E-47A1-80D2-088122A0E64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761997" y="2797068"/>
            <a:ext cx="3452194" cy="830639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EA2C811-2433-C4B8-E818-972740C4960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09600" y="5692875"/>
            <a:ext cx="10972800" cy="539496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543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DBA23-25B7-954B-D646-B91AE0381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3537"/>
            <a:ext cx="7212496" cy="123048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791D4-7662-2DFB-077F-25FC6921C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723-B8F5-CDD2-6B9D-229B99F03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2C780-6C1C-A81B-5B9E-735DFD6F43D1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369902" y="2185522"/>
            <a:ext cx="3452196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29AB7CE-949B-41D7-A673-06B30968CD01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369902" y="2797069"/>
            <a:ext cx="3452194" cy="830639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F48CE7A-5E89-3480-B862-44BFAC429981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761997" y="2185521"/>
            <a:ext cx="3452196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8CF0CF5-EF6E-47A1-80D2-088122A0E64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761997" y="2797068"/>
            <a:ext cx="3452194" cy="830639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BA198D21-2409-AA26-2882-9757585EE7C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262416" y="1594022"/>
            <a:ext cx="3650910" cy="3650910"/>
          </a:xfrm>
          <a:prstGeom prst="ellipse">
            <a:avLst/>
          </a:prstGeo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0956649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DBA23-25B7-954B-D646-B91AE0381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3537"/>
            <a:ext cx="7212496" cy="123048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791D4-7662-2DFB-077F-25FC6921C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723-B8F5-CDD2-6B9D-229B99F03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F48CE7A-5E89-3480-B862-44BFAC429981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761996" y="2185521"/>
            <a:ext cx="5334003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78CF0CF5-EF6E-47A1-80D2-088122A0E64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761997" y="2797068"/>
            <a:ext cx="5334002" cy="2044898"/>
          </a:xfrm>
        </p:spPr>
        <p:txBody>
          <a:bodyPr>
            <a:noAutofit/>
          </a:bodyPr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BA198D21-2409-AA26-2882-9757585EE7C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822096" y="1594022"/>
            <a:ext cx="3650910" cy="3650910"/>
          </a:xfrm>
          <a:prstGeom prst="ellipse">
            <a:avLst/>
          </a:prstGeo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3242349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lumns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DBA23-25B7-954B-D646-B91AE0381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3537"/>
            <a:ext cx="10972800" cy="123048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791D4-7662-2DFB-077F-25FC6921C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723-B8F5-CDD2-6B9D-229B99F03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21325FB-E0FE-AAA4-853C-618899B581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665" y="1611728"/>
            <a:ext cx="6922301" cy="562749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2B210CD-96D1-D9FB-6DF0-62266CCB6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665" y="2178669"/>
            <a:ext cx="6922300" cy="837012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D9276F28-A527-C906-EE7C-5440E0C56B8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31490" y="2031153"/>
            <a:ext cx="3650910" cy="3650910"/>
          </a:xfrm>
          <a:prstGeom prst="ellipse">
            <a:avLst/>
          </a:prstGeo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92E382-FE6E-A17E-2B3A-9F3E4C7A7D21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1146198" y="3092460"/>
            <a:ext cx="6736768" cy="622646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18A7E81-D817-3ABE-B656-52FF60EF0205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1146197" y="3689968"/>
            <a:ext cx="6736767" cy="926101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8347DD8-16D7-B434-07E6-BD26F45B6DEE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1378113" y="4763061"/>
            <a:ext cx="6504852" cy="581992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7114E8C-EF4A-11ED-19FB-2D8B5FEC3A69}"/>
              </a:ext>
            </a:extLst>
          </p:cNvPr>
          <p:cNvSpPr>
            <a:spLocks noGrp="1"/>
          </p:cNvSpPr>
          <p:nvPr>
            <p:ph type="body" sz="half" idx="21"/>
          </p:nvPr>
        </p:nvSpPr>
        <p:spPr>
          <a:xfrm>
            <a:off x="1378112" y="5380382"/>
            <a:ext cx="6504851" cy="865633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231F54DF-E984-A005-B56B-B62147C13B6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39138" y="6538913"/>
            <a:ext cx="3243262" cy="182562"/>
          </a:xfrm>
        </p:spPr>
        <p:txBody>
          <a:bodyPr>
            <a:noAutofit/>
          </a:bodyPr>
          <a:lstStyle>
            <a:lvl1pPr marL="0" indent="0" algn="r">
              <a:buNone/>
              <a:defRPr sz="1000">
                <a:solidFill>
                  <a:schemeClr val="bg1">
                    <a:lumMod val="6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71602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lumns(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DBA23-25B7-954B-D646-B91AE0381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3537"/>
            <a:ext cx="10972800" cy="123048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791D4-7662-2DFB-077F-25FC6921C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723-B8F5-CDD2-6B9D-229B99F03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21325FB-E0FE-AAA4-853C-618899B581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2439" y="1925949"/>
            <a:ext cx="5157787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2B210CD-96D1-D9FB-6DF0-62266CCB6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2439" y="2537496"/>
            <a:ext cx="5157786" cy="883256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92E382-FE6E-A17E-2B3A-9F3E4C7A7D21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6426387" y="1925949"/>
            <a:ext cx="5157787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18A7E81-D817-3ABE-B656-52FF60EF0205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426387" y="2537496"/>
            <a:ext cx="5157786" cy="883256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8347DD8-16D7-B434-07E6-BD26F45B6DEE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960665" y="3752680"/>
            <a:ext cx="5157787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7114E8C-EF4A-11ED-19FB-2D8B5FEC3A69}"/>
              </a:ext>
            </a:extLst>
          </p:cNvPr>
          <p:cNvSpPr>
            <a:spLocks noGrp="1"/>
          </p:cNvSpPr>
          <p:nvPr>
            <p:ph type="body" sz="half" idx="21"/>
          </p:nvPr>
        </p:nvSpPr>
        <p:spPr>
          <a:xfrm>
            <a:off x="960665" y="4364227"/>
            <a:ext cx="5157786" cy="883256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1C98F61-9164-7CDA-F0A4-B90327F23F7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26200" y="3752850"/>
            <a:ext cx="5156200" cy="24574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724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DBA23-25B7-954B-D646-B91AE0381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3537"/>
            <a:ext cx="7362553" cy="123048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791D4-7662-2DFB-077F-25FC6921C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723-B8F5-CDD2-6B9D-229B99F03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21325FB-E0FE-AAA4-853C-618899B581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665" y="1925949"/>
            <a:ext cx="3259182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2B210CD-96D1-D9FB-6DF0-62266CCB6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60665" y="2537496"/>
            <a:ext cx="3259180" cy="1215184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92E382-FE6E-A17E-2B3A-9F3E4C7A7D21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712973" y="1925949"/>
            <a:ext cx="3259182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18A7E81-D817-3ABE-B656-52FF60EF0205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712973" y="2537495"/>
            <a:ext cx="3259180" cy="1197477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8347DD8-16D7-B434-07E6-BD26F45B6DEE}"/>
              </a:ext>
            </a:extLst>
          </p:cNvPr>
          <p:cNvSpPr>
            <a:spLocks noGrp="1"/>
          </p:cNvSpPr>
          <p:nvPr>
            <p:ph type="body" idx="20"/>
          </p:nvPr>
        </p:nvSpPr>
        <p:spPr>
          <a:xfrm>
            <a:off x="960665" y="3752680"/>
            <a:ext cx="7011488" cy="593840"/>
          </a:xfrm>
        </p:spPr>
        <p:txBody>
          <a:bodyPr anchor="b">
            <a:noAutofit/>
          </a:bodyPr>
          <a:lstStyle>
            <a:lvl1pPr marL="0" indent="0">
              <a:buNone/>
              <a:defRPr sz="20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7114E8C-EF4A-11ED-19FB-2D8B5FEC3A69}"/>
              </a:ext>
            </a:extLst>
          </p:cNvPr>
          <p:cNvSpPr>
            <a:spLocks noGrp="1"/>
          </p:cNvSpPr>
          <p:nvPr>
            <p:ph type="body" sz="half" idx="21"/>
          </p:nvPr>
        </p:nvSpPr>
        <p:spPr>
          <a:xfrm>
            <a:off x="960665" y="4364227"/>
            <a:ext cx="7011488" cy="883256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BB6EDE2-F53E-7B97-FF80-7764EECA4CC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485188" y="0"/>
            <a:ext cx="3706812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6216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681E5-DE3E-1E52-3179-344AB5B2A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63537"/>
            <a:ext cx="10972800" cy="123048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9A41B8-CF99-8A7C-E16D-CFEF1E099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989524-6BA7-0F2E-1749-175C69286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5740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E6759F-66EA-8EE3-A2F4-F15BA2F9B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548357-3F2C-483C-C0FC-FD9FB673C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0309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A4A77-C0EC-E90C-087A-E71757299B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926541"/>
            <a:ext cx="10972800" cy="1663044"/>
          </a:xfrm>
          <a:prstGeom prst="rect">
            <a:avLst/>
          </a:prstGeo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5AB453-76B0-1DBA-9EE3-645CA9804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735636"/>
            <a:ext cx="10972800" cy="474663"/>
          </a:xfrm>
        </p:spPr>
        <p:txBody>
          <a:bodyPr anchor="b"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ru-R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729D4B-20DA-C5A9-370C-5C556DC7C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C23F1A-779F-4295-3160-E943DBC04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849934F-55C5-A548-E041-1CB8C42DF0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3926541"/>
          </a:xfr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5030922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56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4F7949-7A27-8374-146A-CC95DD28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E7C920-5A1F-025B-D9D4-A5A51A0EE6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031B3-A976-6667-6BE5-47466B9909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E2BD9-C391-42AE-8163-5D509184F8E1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5E74F-F751-5D87-D2B9-2E5E969CE2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E98FAB-891F-DFD2-E32D-68A09486A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C7ED2F-3367-47C5-B76F-563AF6B0B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58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357E25-C674-3745-6594-912F15B9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2500" y="1847056"/>
            <a:ext cx="106299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64DF9-DAEC-F283-848F-16438F855A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8A0EC6-5648-844A-8827-911B00959032}" type="datetimeFigureOut">
              <a:rPr lang="en-US" smtClean="0"/>
              <a:t>1/13/2025</a:t>
            </a:fld>
            <a:endParaRPr lang="en-US"/>
          </a:p>
        </p:txBody>
      </p:sp>
      <p:sp>
        <p:nvSpPr>
          <p:cNvPr id="10" name="Title Placeholder 9">
            <a:extLst>
              <a:ext uri="{FF2B5EF4-FFF2-40B4-BE49-F238E27FC236}">
                <a16:creationId xmlns:a16="http://schemas.microsoft.com/office/drawing/2014/main" id="{2390A06B-2D1F-A145-446B-BF2680524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363537"/>
            <a:ext cx="10629900" cy="1236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D227A9A-BF27-C878-C29C-004A9358CE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139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5" r:id="rId3"/>
    <p:sldLayoutId id="2147483671" r:id="rId4"/>
    <p:sldLayoutId id="2147483672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60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MV Boli" panose="0200050003020009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">
          <p15:clr>
            <a:srgbClr val="F26B43"/>
          </p15:clr>
        </p15:guide>
        <p15:guide id="2" pos="384">
          <p15:clr>
            <a:srgbClr val="F26B43"/>
          </p15:clr>
        </p15:guide>
        <p15:guide id="3" pos="600">
          <p15:clr>
            <a:srgbClr val="F26B43"/>
          </p15:clr>
        </p15:guide>
        <p15:guide id="4" pos="7296">
          <p15:clr>
            <a:srgbClr val="F26B43"/>
          </p15:clr>
        </p15:guide>
        <p15:guide id="5" orient="horz" pos="3912">
          <p15:clr>
            <a:srgbClr val="F26B43"/>
          </p15:clr>
        </p15:guide>
        <p15:guide id="6" orient="horz" pos="1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A6AA-D81C-6E01-58E6-D7ED9233D9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Employee </a:t>
            </a:r>
            <a:r>
              <a:rPr lang="en-US" altLang="zh-CN" dirty="0"/>
              <a:t>Turnover </a:t>
            </a:r>
            <a:r>
              <a:rPr lang="en-US" dirty="0"/>
              <a:t>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1B5D12-45B6-A823-90B1-7B0C230D98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Yuan Chen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71C7D783-E9A6-60FC-CCDC-9715613E8E4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20" r="2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21526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AF709-357D-0945-38CB-14DCBED3A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Objective 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5A09B2-F34C-9BDC-0CD4-388560640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Understanding Turnover Reasons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274F81-E6FF-0063-52C9-DCE3B5C06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sz="1400"/>
              <a:t>Identify key reasons why employees leave to tackle issues effectively.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465E6D-817F-B4CC-96D7-93FF14754AC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Improve Retention Strategies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E5CA71F-AD75-803A-C330-564F122DAC99}"/>
              </a:ext>
            </a:extLst>
          </p:cNvPr>
          <p:cNvSpPr>
            <a:spLocks noGrp="1"/>
          </p:cNvSpPr>
          <p:nvPr>
            <p:ph type="body" sz="half" idx="14"/>
          </p:nvPr>
        </p:nvSpPr>
        <p:spPr/>
        <p:txBody>
          <a:bodyPr/>
          <a:lstStyle/>
          <a:p>
            <a:r>
              <a:rPr lang="en-US" sz="1400"/>
              <a:t>Use insights to enhance employee loyalty and satisfaction.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CB311CC-7D65-74CD-A855-8AACBFBB458C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rPr lang="en-US"/>
              <a:t>Set Benchmark Metrics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65C0E4B-8233-45EF-0F68-6682A68D364B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n-US" sz="1400" dirty="0"/>
              <a:t>Establish measurable outcomes to evaluate retention efforts.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FE11529D-3880-EADD-7C99-8C2FA283389F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/>
          <a:srcRect t="16687" b="16687"/>
          <a:stretch>
            <a:fillRect/>
          </a:stretch>
        </p:blipFill>
        <p:spPr/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77678B0-B6E1-BE92-B118-653ED68B6B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/>
              <a:t>Photos provided by Unsplash</a:t>
            </a:r>
          </a:p>
        </p:txBody>
      </p:sp>
    </p:spTree>
    <p:extLst>
      <p:ext uri="{BB962C8B-B14F-4D97-AF65-F5344CB8AC3E}">
        <p14:creationId xmlns:p14="http://schemas.microsoft.com/office/powerpoint/2010/main" val="53937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08778-DA32-B67D-06B0-9FC498E34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Predictive Factors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505C9-097A-74CA-3D9B-0DEC98CFF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Job Satisfaction Levels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DCA500-30BB-BD6F-F785-B4B43FB41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sz="1400" dirty="0"/>
              <a:t>Higher satisfaction correlates with lower turnover rates; focus on key drivers of job happiness.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3E53AD7C-DF79-6C45-994F-CAB2F26A24DB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/>
          <a:srcRect t="16687" b="16687"/>
          <a:stretch>
            <a:fillRect/>
          </a:stretch>
        </p:blipFill>
        <p:spPr/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4CA93E1-D04B-1950-8CF2-BB0784F1DB63}"/>
              </a:ext>
            </a:extLst>
          </p:cNvPr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rPr lang="en-US" dirty="0"/>
              <a:t>Workload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4DE99CB-03A4-2C39-BB0E-5D7EB4C1BAD8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r>
              <a:rPr lang="en-US" sz="1400" dirty="0"/>
              <a:t>Overwork employee burnout quickly, lead to lower satisfaction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26E03F-0CE8-B6C8-FF6B-6F0A32F816A9}"/>
              </a:ext>
            </a:extLst>
          </p:cNvPr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rPr lang="en-US" dirty="0"/>
              <a:t>Evaluation and Compensation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0E539D9-EBBF-2A0B-06ED-11ED18906C8B}"/>
              </a:ext>
            </a:extLst>
          </p:cNvPr>
          <p:cNvSpPr>
            <a:spLocks noGrp="1"/>
          </p:cNvSpPr>
          <p:nvPr>
            <p:ph type="body" sz="half" idx="21"/>
          </p:nvPr>
        </p:nvSpPr>
        <p:spPr/>
        <p:txBody>
          <a:bodyPr/>
          <a:lstStyle/>
          <a:p>
            <a:r>
              <a:rPr lang="en-US" sz="1400" dirty="0"/>
              <a:t>Evaluation is highly tied to work hours and may not reflect productivity.</a:t>
            </a:r>
          </a:p>
          <a:p>
            <a:r>
              <a:rPr lang="en-US" sz="1400" dirty="0"/>
              <a:t>High evaluation do not mean high salary and promotion rate, may also lead to low satisfaction level. 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C8D308B-A1ED-9D13-E841-A811CFD3F44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/>
              <a:t>Photos provided by Unsplash</a:t>
            </a:r>
          </a:p>
        </p:txBody>
      </p:sp>
    </p:spTree>
    <p:extLst>
      <p:ext uri="{BB962C8B-B14F-4D97-AF65-F5344CB8AC3E}">
        <p14:creationId xmlns:p14="http://schemas.microsoft.com/office/powerpoint/2010/main" val="919435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21977"/>
              </p:ext>
            </p:extLst>
          </p:nvPr>
        </p:nvGraphicFramePr>
        <p:xfrm>
          <a:off x="609600" y="2804160"/>
          <a:ext cx="10363202" cy="2145792"/>
        </p:xfrm>
        <a:graphic>
          <a:graphicData uri="http://schemas.openxmlformats.org/drawingml/2006/table">
            <a:tbl>
              <a:tblPr/>
              <a:tblGrid>
                <a:gridCol w="1758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3750">
                  <a:extLst>
                    <a:ext uri="{9D8B030D-6E8A-4147-A177-3AD203B41FA5}">
                      <a16:colId xmlns:a16="http://schemas.microsoft.com/office/drawing/2014/main" val="1746071666"/>
                    </a:ext>
                  </a:extLst>
                </a:gridCol>
                <a:gridCol w="1123750">
                  <a:extLst>
                    <a:ext uri="{9D8B030D-6E8A-4147-A177-3AD203B41FA5}">
                      <a16:colId xmlns:a16="http://schemas.microsoft.com/office/drawing/2014/main" val="3301743137"/>
                    </a:ext>
                  </a:extLst>
                </a:gridCol>
                <a:gridCol w="1123750">
                  <a:extLst>
                    <a:ext uri="{9D8B030D-6E8A-4147-A177-3AD203B41FA5}">
                      <a16:colId xmlns:a16="http://schemas.microsoft.com/office/drawing/2014/main" val="1751617642"/>
                    </a:ext>
                  </a:extLst>
                </a:gridCol>
                <a:gridCol w="4109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Model Version</a:t>
                      </a:r>
                      <a:endParaRPr lang="en-US" sz="1400" b="1" dirty="0">
                        <a:solidFill>
                          <a:schemeClr val="accent1"/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Accuracy </a:t>
                      </a:r>
                      <a:endParaRPr lang="en-US" sz="1400" b="1" dirty="0">
                        <a:solidFill>
                          <a:schemeClr val="accent1"/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Precision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Recall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F1-score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Key Metrics</a:t>
                      </a:r>
                      <a:endParaRPr lang="en-US" sz="1400" b="1" dirty="0">
                        <a:solidFill>
                          <a:schemeClr val="accent1"/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Logistic Regression</a:t>
                      </a:r>
                      <a:endParaRPr lang="en-US" sz="1400" dirty="0">
                        <a:solidFill>
                          <a:schemeClr val="bg2">
                            <a:lumMod val="25000"/>
                          </a:schemeClr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82%</a:t>
                      </a:r>
                      <a:endParaRPr lang="en-US" sz="1400" dirty="0">
                        <a:solidFill>
                          <a:schemeClr val="bg2">
                            <a:lumMod val="25000"/>
                          </a:schemeClr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47%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24%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32%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solidFill>
                          <a:schemeClr val="bg2">
                            <a:lumMod val="25000"/>
                          </a:schemeClr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0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Decision Tree</a:t>
                      </a:r>
                      <a:endParaRPr lang="en-US" sz="1400" dirty="0">
                        <a:solidFill>
                          <a:schemeClr val="bg2">
                            <a:lumMod val="25000"/>
                          </a:schemeClr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94%</a:t>
                      </a:r>
                      <a:endParaRPr lang="en-US" sz="1400" dirty="0">
                        <a:solidFill>
                          <a:schemeClr val="bg2">
                            <a:lumMod val="25000"/>
                          </a:schemeClr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82%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85%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84%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Work hours, evaluation, years employed, salary</a:t>
                      </a:r>
                      <a:endParaRPr lang="en-US" sz="1400" dirty="0">
                        <a:solidFill>
                          <a:schemeClr val="bg2">
                            <a:lumMod val="25000"/>
                          </a:schemeClr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Random Forest</a:t>
                      </a:r>
                    </a:p>
                  </a:txBody>
                  <a:tcPr marL="73152" marR="73152" marT="73152" marB="73152" anchor="ctr">
                    <a:lnL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95%</a:t>
                      </a:r>
                      <a:endParaRPr lang="en-US" sz="1400" dirty="0">
                        <a:solidFill>
                          <a:schemeClr val="bg2">
                            <a:lumMod val="25000"/>
                          </a:schemeClr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80%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91%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charset="0"/>
                          <a:ea typeface="Roboto" charset="0"/>
                          <a:cs typeface="Roboto" charset="0"/>
                        </a:rPr>
                        <a:t>86%</a:t>
                      </a: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Work hours, evaluation, years employed, salary</a:t>
                      </a:r>
                      <a:endParaRPr lang="en-US" sz="1400" dirty="0">
                        <a:solidFill>
                          <a:schemeClr val="bg2">
                            <a:lumMod val="25000"/>
                          </a:schemeClr>
                        </a:solidFill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BFBFB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Text 0"/>
          <p:cNvSpPr/>
          <p:nvPr/>
        </p:nvSpPr>
        <p:spPr>
          <a:xfrm>
            <a:off x="609600" y="35560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 anchorCtr="0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dirty="0">
                <a:latin typeface="Calibri"/>
                <a:cs typeface="Calibri"/>
              </a:rPr>
              <a:t>Retention Prediction Model</a:t>
            </a:r>
          </a:p>
        </p:txBody>
      </p:sp>
      <p:sp>
        <p:nvSpPr>
          <p:cNvPr id="4" name="Shape 1"/>
          <p:cNvSpPr/>
          <p:nvPr/>
        </p:nvSpPr>
        <p:spPr>
          <a:xfrm>
            <a:off x="1219200" y="1219200"/>
            <a:ext cx="1219200" cy="1219200"/>
          </a:xfrm>
          <a:prstGeom prst="line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09600" y="1574800"/>
            <a:ext cx="6032500" cy="787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Roboto"/>
                <a:ea typeface="Roboto"/>
                <a:cs typeface="Roboto"/>
              </a:rPr>
              <a:t>This table summarizes the various models used to predict employee retention, highlighting their accuracy rates and key metrics employed.</a:t>
            </a:r>
          </a:p>
        </p:txBody>
      </p:sp>
    </p:spTree>
    <p:extLst>
      <p:ext uri="{BB962C8B-B14F-4D97-AF65-F5344CB8AC3E}">
        <p14:creationId xmlns:p14="http://schemas.microsoft.com/office/powerpoint/2010/main" val="12283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C5532D8-EEDD-22C0-4DE1-0A154CFE1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17" y="1971842"/>
            <a:ext cx="4047678" cy="33244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D99A0A-FBF5-41C4-70B7-FCF2F229B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173" y="1502342"/>
            <a:ext cx="7536630" cy="4166938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F35F6B3-349E-D975-50EA-A054369B0B83}"/>
              </a:ext>
            </a:extLst>
          </p:cNvPr>
          <p:cNvSpPr/>
          <p:nvPr/>
        </p:nvSpPr>
        <p:spPr>
          <a:xfrm>
            <a:off x="609600" y="201596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 anchorCtr="0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dirty="0">
                <a:latin typeface="Calibri"/>
                <a:cs typeface="Calibri"/>
              </a:rPr>
              <a:t>Retention Prediction Model Visualization</a:t>
            </a:r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58B0B28B-6E0B-616A-7862-F21E36133E39}"/>
              </a:ext>
            </a:extLst>
          </p:cNvPr>
          <p:cNvSpPr/>
          <p:nvPr/>
        </p:nvSpPr>
        <p:spPr>
          <a:xfrm>
            <a:off x="902445" y="1420796"/>
            <a:ext cx="2598822" cy="519764"/>
          </a:xfrm>
          <a:prstGeom prst="rect">
            <a:avLst/>
          </a:prstGeom>
          <a:noFill/>
          <a:ln/>
        </p:spPr>
        <p:txBody>
          <a:bodyPr wrap="square" rtlCol="0" anchor="ctr" anchorCtr="0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Confusion Matrix of the Prediction</a:t>
            </a:r>
          </a:p>
        </p:txBody>
      </p:sp>
    </p:spTree>
    <p:extLst>
      <p:ext uri="{BB962C8B-B14F-4D97-AF65-F5344CB8AC3E}">
        <p14:creationId xmlns:p14="http://schemas.microsoft.com/office/powerpoint/2010/main" val="4188083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D116D-8752-E717-E217-E1969FF87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363537"/>
            <a:ext cx="8418898" cy="1230485"/>
          </a:xfrm>
        </p:spPr>
        <p:txBody>
          <a:bodyPr/>
          <a:lstStyle/>
          <a:p>
            <a:r>
              <a:rPr lang="en-US" dirty="0"/>
              <a:t>Conclusion and Recommendations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775622-3F76-0211-0F4F-B5D4D05F88C3}"/>
              </a:ext>
            </a:extLst>
          </p:cNvPr>
          <p:cNvSpPr>
            <a:spLocks noGrp="1"/>
          </p:cNvSpPr>
          <p:nvPr>
            <p:ph type="body" idx="24"/>
          </p:nvPr>
        </p:nvSpPr>
        <p:spPr>
          <a:xfrm>
            <a:off x="609599" y="1434750"/>
            <a:ext cx="5334003" cy="593840"/>
          </a:xfrm>
        </p:spPr>
        <p:txBody>
          <a:bodyPr/>
          <a:lstStyle/>
          <a:p>
            <a:r>
              <a:rPr lang="en-US" dirty="0"/>
              <a:t>Summary of Key Findings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38E24-8F8D-F265-3328-FFB9720F4176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09600" y="2161801"/>
            <a:ext cx="5252185" cy="266761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Overwork is prevalent(&gt;170 hours/month)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Employee start mass exodus from year 3 and peak at year 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Employee who leave concentrated in two group, one is high work hour, high evaluation, and the other is low work hour low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Salary and promotion rate are low among high work hour, high evaluation employee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Evaluation is highly correlated with workload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F434BE9-6B45-596A-6F17-6629F08AACEF}"/>
              </a:ext>
            </a:extLst>
          </p:cNvPr>
          <p:cNvSpPr txBox="1">
            <a:spLocks/>
          </p:cNvSpPr>
          <p:nvPr/>
        </p:nvSpPr>
        <p:spPr>
          <a:xfrm>
            <a:off x="6096000" y="1434750"/>
            <a:ext cx="5334003" cy="59384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Recommendations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A98EF04-F100-4E35-6E60-1A9572911E84}"/>
              </a:ext>
            </a:extLst>
          </p:cNvPr>
          <p:cNvSpPr txBox="1">
            <a:spLocks/>
          </p:cNvSpPr>
          <p:nvPr/>
        </p:nvSpPr>
        <p:spPr>
          <a:xfrm>
            <a:off x="6096000" y="2161801"/>
            <a:ext cx="5252185" cy="26676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Restrict overtime work to reduce burnout, make employee and management aware of the company’s overtime policy.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Improve the evaluation system, make it less tied to work hours, but more on productivity.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Improve the compensation among high performance employee.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0045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79B33F7-35B8-8467-4571-FB3F136B2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5374" y="41083"/>
            <a:ext cx="4076359" cy="2935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0297757-6E6A-90D3-D0EC-020835312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1585"/>
            <a:ext cx="4076359" cy="2913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89D1FF3-B8BD-7A40-5D10-D5CF1CCA87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7" y="3097549"/>
            <a:ext cx="6454301" cy="3760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2E7BD1BB-50B0-4E8B-3003-18A59FFFF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0747" y="31584"/>
            <a:ext cx="4076359" cy="2868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27639667-43F5-5853-3D6E-6B2F85226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5824" y="3872151"/>
            <a:ext cx="5691019" cy="3021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376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11FAC6C0-2F2B-C7B7-DBFA-E776F1EB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5913" y="809625"/>
            <a:ext cx="9020175" cy="523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380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rif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2.1" id="{19F6FF4A-BFB8-D448-81DB-A8F1C71F8E46}" vid="{CDCDF023-17A4-CF46-89DD-D6386F64A91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983CEE2-4838-4E95-835D-8BB6905FD283}">
  <we:reference id="wa200005566" version="3.0.0.2" store="en-US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329</Words>
  <Application>Microsoft Office PowerPoint</Application>
  <PresentationFormat>Widescreen</PresentationFormat>
  <Paragraphs>58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Roboto</vt:lpstr>
      <vt:lpstr>Office Theme</vt:lpstr>
      <vt:lpstr>Drift</vt:lpstr>
      <vt:lpstr>Employee Turnover Analysis</vt:lpstr>
      <vt:lpstr>Objective Overview</vt:lpstr>
      <vt:lpstr>Key Predictive Factors</vt:lpstr>
      <vt:lpstr>PowerPoint Presentation</vt:lpstr>
      <vt:lpstr>PowerPoint Presentation</vt:lpstr>
      <vt:lpstr>Conclusion and Recommendations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 CHEN</dc:creator>
  <cp:lastModifiedBy>ZHAO, YANHUI</cp:lastModifiedBy>
  <cp:revision>15</cp:revision>
  <dcterms:created xsi:type="dcterms:W3CDTF">2024-11-28T04:35:38Z</dcterms:created>
  <dcterms:modified xsi:type="dcterms:W3CDTF">2025-01-13T06:03:51Z</dcterms:modified>
</cp:coreProperties>
</file>